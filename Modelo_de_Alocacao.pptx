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206240"/>
            <a:ext cx="12191695" cy="73152"/>
          </a:xfrm>
          <a:prstGeom prst="rect">
            <a:avLst/>
          </a:prstGeom>
          <a:solidFill>
            <a:srgbClr val="17B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51560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5000" b="1" i="0">
                <a:solidFill>
                  <a:srgbClr val="FFFFFF"/>
                </a:solidFill>
                <a:latin typeface="Calibri"/>
              </a:rPr>
              <a:t>Do palpite à precisão</a:t>
            </a:r>
          </a:p>
          <a:p>
            <a:pPr algn="l">
              <a:spcAft>
                <a:spcPts val="0"/>
              </a:spcAft>
            </a:pPr>
            <a:r>
              <a:rPr sz="2400" b="0" i="0">
                <a:solidFill>
                  <a:srgbClr val="17B8C4"/>
                </a:solidFill>
                <a:latin typeface="Calibri"/>
              </a:rPr>
              <a:t>Como recomendamos a carteira certa para cada cliente — na escala de todos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480560"/>
            <a:ext cx="105156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Modelo de Alocação  ·  Avenue Intelligence</a:t>
            </a:r>
          </a:p>
          <a:p>
            <a:pPr algn="l">
              <a:spcAft>
                <a:spcPts val="600"/>
              </a:spcAft>
            </a:pPr>
            <a:r>
              <a:rPr sz="1500" b="0" i="1">
                <a:solidFill>
                  <a:srgbClr val="6B7280"/>
                </a:solidFill>
                <a:latin typeface="Calibri"/>
              </a:rPr>
              <a:t>De uma planilha por cliente a um motor que escala para toda a base.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7B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457200"/>
            <a:ext cx="2267712" cy="384048"/>
          </a:xfrm>
          <a:prstGeom prst="roundRect">
            <a:avLst/>
          </a:prstGeom>
          <a:solidFill>
            <a:srgbClr val="1E5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ATO 1 · PROBLEMA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68680"/>
            <a:ext cx="111556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0B1F3A"/>
                </a:solidFill>
                <a:latin typeface="Calibri"/>
              </a:rPr>
              <a:t>O problema</a:t>
            </a:r>
          </a:p>
          <a:p>
            <a:pPr algn="l">
              <a:spcAft>
                <a:spcPts val="0"/>
              </a:spcAft>
            </a:pPr>
            <a:r>
              <a:rPr sz="1500" b="0" i="1">
                <a:solidFill>
                  <a:srgbClr val="6B7280"/>
                </a:solidFill>
                <a:latin typeface="Calibri"/>
              </a:rPr>
              <a:t>A pergunta que move este projeto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1097280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1" i="0">
                <a:solidFill>
                  <a:srgbClr val="0B1F3A"/>
                </a:solidFill>
                <a:latin typeface="Calibri"/>
              </a:rPr>
              <a:t>Cada cliente é único</a:t>
            </a:r>
          </a:p>
          <a:p>
            <a:pPr algn="l" lvl="1">
              <a:spcAft>
                <a:spcPts val="500"/>
              </a:spcAft>
            </a:pPr>
            <a:r>
              <a:rPr sz="1600" b="0" i="0">
                <a:solidFill>
                  <a:srgbClr val="3C4452"/>
                </a:solidFill>
                <a:latin typeface="Calibri"/>
              </a:rPr>
              <a:t>–  Perfil de risco, restrições, necessidade de liquidez, objetivo de renda</a:t>
            </a:r>
          </a:p>
          <a:p>
            <a:pPr algn="l" lvl="1">
              <a:spcAft>
                <a:spcPts val="500"/>
              </a:spcAft>
            </a:pPr>
            <a:r>
              <a:rPr sz="1600" b="0" i="0">
                <a:solidFill>
                  <a:srgbClr val="3C4452"/>
                </a:solidFill>
                <a:latin typeface="Calibri"/>
              </a:rPr>
              <a:t>–  Posição atual e caixa disponível diferentes para cada um</a:t>
            </a:r>
          </a:p>
          <a:p>
            <a:pPr algn="l">
              <a:spcAft>
                <a:spcPts val="1000"/>
              </a:spcAft>
            </a:pPr>
            <a:r>
              <a:rPr sz="2000" b="1" i="0">
                <a:solidFill>
                  <a:srgbClr val="0B1F3A"/>
                </a:solidFill>
                <a:latin typeface="Calibri"/>
              </a:rPr>
              <a:t>Recomendar "na mão" não escala</a:t>
            </a:r>
          </a:p>
          <a:p>
            <a:pPr algn="l" lvl="1">
              <a:spcAft>
                <a:spcPts val="500"/>
              </a:spcAft>
            </a:pPr>
            <a:r>
              <a:rPr sz="1600" b="0" i="0">
                <a:solidFill>
                  <a:srgbClr val="3C4452"/>
                </a:solidFill>
                <a:latin typeface="Calibri"/>
              </a:rPr>
              <a:t>–  Lento, inconsistente e difícil de auditar</a:t>
            </a:r>
          </a:p>
          <a:p>
            <a:pPr algn="l" lvl="1">
              <a:spcAft>
                <a:spcPts val="500"/>
              </a:spcAft>
            </a:pPr>
            <a:r>
              <a:rPr sz="1600" b="0" i="0">
                <a:solidFill>
                  <a:srgbClr val="3C4452"/>
                </a:solidFill>
                <a:latin typeface="Calibri"/>
              </a:rPr>
              <a:t>–  Conhecimento preso na cabeça de poucas pessoas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00800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 i="0">
                <a:solidFill>
                  <a:srgbClr val="6B7280"/>
                </a:solidFill>
                <a:latin typeface="Calibri"/>
              </a:rPr>
              <a:t>Modelo de Alocação · 2/14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212080"/>
            <a:ext cx="10972800" cy="914400"/>
          </a:xfrm>
          <a:prstGeom prst="roundRect">
            <a:avLst/>
          </a:prstGeom>
          <a:solidFill>
            <a:srgbClr val="F4F7FB"/>
          </a:solidFill>
          <a:ln w="19050">
            <a:solidFill>
              <a:srgbClr val="17B8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i="1">
                <a:solidFill>
                  <a:srgbClr val="1E5AA8"/>
                </a:solidFill>
                <a:latin typeface="Calibri"/>
              </a:rPr>
              <a:t>“Como dar a melhor recomendação para milhares de clientes ao mesmo tempo — cada um com suas regras?”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7B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457200"/>
            <a:ext cx="2267712" cy="384048"/>
          </a:xfrm>
          <a:prstGeom prst="roundRect">
            <a:avLst/>
          </a:prstGeom>
          <a:solidFill>
            <a:srgbClr val="1E5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ATO 1 · PROBLEMA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68680"/>
            <a:ext cx="111556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0B1F3A"/>
                </a:solidFill>
                <a:latin typeface="Calibri"/>
              </a:rPr>
              <a:t>O que o cliente espera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1097280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1" i="0">
                <a:solidFill>
                  <a:srgbClr val="0B1F3A"/>
                </a:solidFill>
                <a:latin typeface="Calibri"/>
              </a:rPr>
              <a:t>Uma carteira aderente ao seu perfil (model portfolio)</a:t>
            </a:r>
          </a:p>
          <a:p>
            <a:pPr algn="l">
              <a:spcAft>
                <a:spcPts val="1000"/>
              </a:spcAft>
            </a:pPr>
            <a:r>
              <a:rPr sz="2000" b="1" i="0">
                <a:solidFill>
                  <a:srgbClr val="0B1F3A"/>
                </a:solidFill>
                <a:latin typeface="Calibri"/>
              </a:rPr>
              <a:t>Respeito às suas restrições e à política da casa</a:t>
            </a:r>
          </a:p>
          <a:p>
            <a:pPr algn="l">
              <a:spcAft>
                <a:spcPts val="1000"/>
              </a:spcAft>
            </a:pPr>
            <a:r>
              <a:rPr sz="2000" b="1" i="0">
                <a:solidFill>
                  <a:srgbClr val="0B1F3A"/>
                </a:solidFill>
                <a:latin typeface="Calibri"/>
              </a:rPr>
              <a:t>Os produtos de melhor qualidade primeiro</a:t>
            </a:r>
          </a:p>
          <a:p>
            <a:pPr algn="l">
              <a:spcAft>
                <a:spcPts val="1000"/>
              </a:spcAft>
            </a:pPr>
            <a:r>
              <a:rPr sz="2000" b="1" i="0">
                <a:solidFill>
                  <a:srgbClr val="0B1F3A"/>
                </a:solidFill>
                <a:latin typeface="Calibri"/>
              </a:rPr>
              <a:t>Uma ordem de compra pronta para o caixa que ele tem hoje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00800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 i="0">
                <a:solidFill>
                  <a:srgbClr val="6B7280"/>
                </a:solidFill>
                <a:latin typeface="Calibri"/>
              </a:rPr>
              <a:t>Modelo de Alocação · 3/14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7B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457200"/>
            <a:ext cx="2148840" cy="384048"/>
          </a:xfrm>
          <a:prstGeom prst="roundRect">
            <a:avLst/>
          </a:prstGeom>
          <a:solidFill>
            <a:srgbClr val="17B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ATO 2 · SOLUÇÃO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68680"/>
            <a:ext cx="111556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0B1F3A"/>
                </a:solidFill>
                <a:latin typeface="Calibri"/>
              </a:rPr>
              <a:t>Visão geral — um funil de 5 estágios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468880"/>
            <a:ext cx="2057400" cy="2011680"/>
          </a:xfrm>
          <a:prstGeom prst="roundRect">
            <a:avLst/>
          </a:prstGeom>
          <a:solidFill>
            <a:srgbClr val="1E5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 · Produtos
Recomendados</a:t>
            </a:r>
          </a:p>
          <a:p>
            <a:pPr algn="ctr"/>
            <a:r>
              <a:rPr sz="1200">
                <a:solidFill>
                  <a:srgbClr val="D6E6F7"/>
                </a:solidFill>
                <a:latin typeface="Calibri"/>
              </a:rPr>
              <a:t>O QUE pode
ser recomendado</a:t>
            </a:r>
          </a:p>
        </p:txBody>
      </p:sp>
      <p:sp>
        <p:nvSpPr>
          <p:cNvPr id="7" name="Can 6"/>
          <p:cNvSpPr/>
          <p:nvPr/>
        </p:nvSpPr>
        <p:spPr>
          <a:xfrm>
            <a:off x="2606041" y="3291840"/>
            <a:ext cx="109728" cy="365760"/>
          </a:xfrm>
          <a:prstGeom prst="can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715768" y="2468880"/>
            <a:ext cx="2057400" cy="2011680"/>
          </a:xfrm>
          <a:prstGeom prst="roundRect">
            <a:avLst/>
          </a:prstGeom>
          <a:solidFill>
            <a:srgbClr val="1E5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 · Model
Portfolio</a:t>
            </a:r>
          </a:p>
          <a:p>
            <a:pPr algn="ctr"/>
            <a:r>
              <a:rPr sz="1200">
                <a:solidFill>
                  <a:srgbClr val="D6E6F7"/>
                </a:solidFill>
                <a:latin typeface="Calibri"/>
              </a:rPr>
              <a:t>QUANTO de
cada categoria</a:t>
            </a:r>
          </a:p>
        </p:txBody>
      </p:sp>
      <p:sp>
        <p:nvSpPr>
          <p:cNvPr id="9" name="Can 8"/>
          <p:cNvSpPr/>
          <p:nvPr/>
        </p:nvSpPr>
        <p:spPr>
          <a:xfrm>
            <a:off x="4773169" y="3291840"/>
            <a:ext cx="109728" cy="365760"/>
          </a:xfrm>
          <a:prstGeom prst="can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882896" y="2468880"/>
            <a:ext cx="2057400" cy="2011680"/>
          </a:xfrm>
          <a:prstGeom prst="roundRect">
            <a:avLst/>
          </a:prstGeom>
          <a:solidFill>
            <a:srgbClr val="1E5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 · Restrições</a:t>
            </a:r>
          </a:p>
          <a:p>
            <a:pPr algn="ctr"/>
            <a:r>
              <a:rPr sz="1200">
                <a:solidFill>
                  <a:srgbClr val="D6E6F7"/>
                </a:solidFill>
                <a:latin typeface="Calibri"/>
              </a:rPr>
              <a:t>O que NÃO
pode entrar</a:t>
            </a:r>
          </a:p>
        </p:txBody>
      </p:sp>
      <p:sp>
        <p:nvSpPr>
          <p:cNvPr id="11" name="Can 10"/>
          <p:cNvSpPr/>
          <p:nvPr/>
        </p:nvSpPr>
        <p:spPr>
          <a:xfrm>
            <a:off x="6940297" y="3291840"/>
            <a:ext cx="109728" cy="365760"/>
          </a:xfrm>
          <a:prstGeom prst="can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050024" y="2468880"/>
            <a:ext cx="2057400" cy="2011680"/>
          </a:xfrm>
          <a:prstGeom prst="roundRect">
            <a:avLst/>
          </a:prstGeom>
          <a:solidFill>
            <a:srgbClr val="1E5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 · Produtos
por Cliente</a:t>
            </a:r>
          </a:p>
          <a:p>
            <a:pPr algn="ctr"/>
            <a:r>
              <a:rPr sz="1200">
                <a:solidFill>
                  <a:srgbClr val="D6E6F7"/>
                </a:solidFill>
                <a:latin typeface="Calibri"/>
              </a:rPr>
              <a:t>Lista sob
medida</a:t>
            </a:r>
          </a:p>
        </p:txBody>
      </p:sp>
      <p:sp>
        <p:nvSpPr>
          <p:cNvPr id="13" name="Can 12"/>
          <p:cNvSpPr/>
          <p:nvPr/>
        </p:nvSpPr>
        <p:spPr>
          <a:xfrm>
            <a:off x="9107425" y="3291840"/>
            <a:ext cx="109728" cy="365760"/>
          </a:xfrm>
          <a:prstGeom prst="can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217152" y="2468880"/>
            <a:ext cx="2057400" cy="2011680"/>
          </a:xfrm>
          <a:prstGeom prst="roundRect">
            <a:avLst/>
          </a:prstGeom>
          <a:solidFill>
            <a:srgbClr val="17B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5 · Otimizador</a:t>
            </a:r>
          </a:p>
          <a:p>
            <a:pPr algn="ctr"/>
            <a:r>
              <a:rPr sz="1200">
                <a:solidFill>
                  <a:srgbClr val="D6E6F7"/>
                </a:solidFill>
                <a:latin typeface="Calibri"/>
              </a:rPr>
              <a:t>Ordem de
compra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84632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 i="1">
                <a:solidFill>
                  <a:srgbClr val="3C4452"/>
                </a:solidFill>
                <a:latin typeface="Calibri"/>
              </a:rPr>
              <a:t>Cada etapa estreita o universo até sobrar exatamente o que faz sentido para aquele cliente.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0" y="6400800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 i="0">
                <a:solidFill>
                  <a:srgbClr val="6B7280"/>
                </a:solidFill>
                <a:latin typeface="Calibri"/>
              </a:rPr>
              <a:t>Modelo de Alocação · 4/14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7B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457200"/>
            <a:ext cx="2862072" cy="384048"/>
          </a:xfrm>
          <a:prstGeom prst="roundRect">
            <a:avLst/>
          </a:prstGeom>
          <a:solidFill>
            <a:srgbClr val="1E5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PRODUTOS RECOMENDADOS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68680"/>
            <a:ext cx="111556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0B1F3A"/>
                </a:solidFill>
                <a:latin typeface="Calibri"/>
              </a:rPr>
              <a:t>Etapa 1 — O que pode ser recomendado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1097280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1" i="0">
                <a:solidFill>
                  <a:srgbClr val="0B1F3A"/>
                </a:solidFill>
                <a:latin typeface="Calibri"/>
              </a:rPr>
              <a:t>Research seleciona, por mês, os melhores produtos</a:t>
            </a:r>
          </a:p>
          <a:p>
            <a:pPr algn="l" lvl="1">
              <a:spcAft>
                <a:spcPts val="500"/>
              </a:spcAft>
            </a:pPr>
            <a:r>
              <a:rPr sz="1600" b="0" i="0">
                <a:solidFill>
                  <a:srgbClr val="3C4452"/>
                </a:solidFill>
                <a:latin typeface="Calibri"/>
              </a:rPr>
              <a:t>–  Bonds, ETFs, Fundos e UCITS (ações não entram no modelo)</a:t>
            </a:r>
          </a:p>
          <a:p>
            <a:pPr algn="l">
              <a:spcAft>
                <a:spcPts val="1000"/>
              </a:spcAft>
            </a:pPr>
            <a:r>
              <a:rPr sz="2000" b="1" i="0">
                <a:solidFill>
                  <a:srgbClr val="0B1F3A"/>
                </a:solidFill>
                <a:latin typeface="Calibri"/>
              </a:rPr>
              <a:t>Campanhas pontuais entram sem bagunçar a fila</a:t>
            </a:r>
          </a:p>
          <a:p>
            <a:pPr algn="l" lvl="1">
              <a:spcAft>
                <a:spcPts val="500"/>
              </a:spcAft>
            </a:pPr>
            <a:r>
              <a:rPr sz="1600" b="0" i="0">
                <a:solidFill>
                  <a:srgbClr val="3C4452"/>
                </a:solidFill>
                <a:latin typeface="Calibri"/>
              </a:rPr>
              <a:t>–  Recomendações de campanha "furam a fila" na posição certa</a:t>
            </a:r>
          </a:p>
          <a:p>
            <a:pPr algn="l" lvl="1">
              <a:spcAft>
                <a:spcPts val="500"/>
              </a:spcAft>
            </a:pPr>
            <a:r>
              <a:rPr sz="1600" b="0" i="0">
                <a:solidFill>
                  <a:srgbClr val="3C4452"/>
                </a:solidFill>
                <a:latin typeface="Calibri"/>
              </a:rPr>
              <a:t>–  Os produtos mensais são repriorizados automaticamente</a:t>
            </a:r>
          </a:p>
          <a:p>
            <a:pPr algn="l">
              <a:spcAft>
                <a:spcPts val="1000"/>
              </a:spcAft>
            </a:pPr>
            <a:r>
              <a:rPr sz="2000" b="1" i="0">
                <a:solidFill>
                  <a:srgbClr val="0B1F3A"/>
                </a:solidFill>
                <a:latin typeface="Calibri"/>
              </a:rPr>
              <a:t>Cada produto chega com seus atributos</a:t>
            </a:r>
          </a:p>
          <a:p>
            <a:pPr algn="l" lvl="1">
              <a:spcAft>
                <a:spcPts val="500"/>
              </a:spcAft>
            </a:pPr>
            <a:r>
              <a:rPr sz="1600" b="0" i="0">
                <a:solidFill>
                  <a:srgbClr val="3C4452"/>
                </a:solidFill>
                <a:latin typeface="Calibri"/>
              </a:rPr>
              <a:t>–  Gestora, duration, setor, emissor, rating, aplicação mínima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00800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 i="0">
                <a:solidFill>
                  <a:srgbClr val="6B7280"/>
                </a:solidFill>
                <a:latin typeface="Calibri"/>
              </a:rPr>
              <a:t>Modelo de Alocação · 5/14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7B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457200"/>
            <a:ext cx="2148840" cy="384048"/>
          </a:xfrm>
          <a:prstGeom prst="roundRect">
            <a:avLst/>
          </a:prstGeom>
          <a:solidFill>
            <a:srgbClr val="1E5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MODEL PORTFOLIO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68680"/>
            <a:ext cx="111556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0B1F3A"/>
                </a:solidFill>
                <a:latin typeface="Calibri"/>
              </a:rPr>
              <a:t>Etapa 2 — Quanto de cada coisa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1097280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1" i="0">
                <a:solidFill>
                  <a:srgbClr val="0B1F3A"/>
                </a:solidFill>
                <a:latin typeface="Calibri"/>
              </a:rPr>
              <a:t>Peso-alvo por categoria, definido por perfil de risco</a:t>
            </a:r>
          </a:p>
          <a:p>
            <a:pPr algn="l">
              <a:spcAft>
                <a:spcPts val="1000"/>
              </a:spcAft>
            </a:pPr>
            <a:r>
              <a:rPr sz="2000" b="1" i="0">
                <a:solidFill>
                  <a:srgbClr val="0B1F3A"/>
                </a:solidFill>
                <a:latin typeface="Calibri"/>
              </a:rPr>
              <a:t>Três carteiras disponíveis</a:t>
            </a:r>
          </a:p>
          <a:p>
            <a:pPr algn="l" lvl="1">
              <a:spcAft>
                <a:spcPts val="500"/>
              </a:spcAft>
            </a:pPr>
            <a:r>
              <a:rPr sz="1600" b="0" i="0">
                <a:solidFill>
                  <a:srgbClr val="3C4452"/>
                </a:solidFill>
                <a:latin typeface="Calibri"/>
              </a:rPr>
              <a:t>–  Agregada  ·  Expandida  ·  Personalizada</a:t>
            </a:r>
          </a:p>
          <a:p>
            <a:pPr algn="l">
              <a:spcAft>
                <a:spcPts val="1000"/>
              </a:spcAft>
            </a:pPr>
            <a:r>
              <a:rPr sz="2000" b="1" i="0">
                <a:solidFill>
                  <a:srgbClr val="0B1F3A"/>
                </a:solidFill>
                <a:latin typeface="Calibri"/>
              </a:rPr>
              <a:t>Versionado no tempo</a:t>
            </a:r>
          </a:p>
          <a:p>
            <a:pPr algn="l" lvl="1">
              <a:spcAft>
                <a:spcPts val="500"/>
              </a:spcAft>
            </a:pPr>
            <a:r>
              <a:rPr sz="1600" b="0" i="0">
                <a:solidFill>
                  <a:srgbClr val="3C4452"/>
                </a:solidFill>
                <a:latin typeface="Calibri"/>
              </a:rPr>
              <a:t>–  Sabemos qual era o alvo recomendado em qualquer data</a:t>
            </a:r>
          </a:p>
          <a:p>
            <a:pPr algn="l" lvl="1">
              <a:spcAft>
                <a:spcPts val="500"/>
              </a:spcAft>
            </a:pPr>
            <a:r>
              <a:rPr sz="1600" b="0" i="0">
                <a:solidFill>
                  <a:srgbClr val="3C4452"/>
                </a:solidFill>
                <a:latin typeface="Calibri"/>
              </a:rPr>
              <a:t>–  A Personalizada lê a composição direto do IPS do cliente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00800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 i="0">
                <a:solidFill>
                  <a:srgbClr val="6B7280"/>
                </a:solidFill>
                <a:latin typeface="Calibri"/>
              </a:rPr>
              <a:t>Modelo de Alocação · 6/14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7B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457200"/>
            <a:ext cx="1554480" cy="384048"/>
          </a:xfrm>
          <a:prstGeom prst="roundRect">
            <a:avLst/>
          </a:prstGeom>
          <a:solidFill>
            <a:srgbClr val="1E5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RESTRIÇÕES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68680"/>
            <a:ext cx="111556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0B1F3A"/>
                </a:solidFill>
                <a:latin typeface="Calibri"/>
              </a:rPr>
              <a:t>Etapa 3 — As regras do jogo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1097280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1" i="0">
                <a:solidFill>
                  <a:srgbClr val="0B1F3A"/>
                </a:solidFill>
                <a:latin typeface="Calibri"/>
              </a:rPr>
              <a:t>Três camadas de proteção</a:t>
            </a:r>
          </a:p>
          <a:p>
            <a:pPr algn="l" lvl="1">
              <a:spcAft>
                <a:spcPts val="500"/>
              </a:spcAft>
            </a:pPr>
            <a:r>
              <a:rPr sz="1600" b="0" i="0">
                <a:solidFill>
                  <a:srgbClr val="3C4452"/>
                </a:solidFill>
                <a:latin typeface="Calibri"/>
              </a:rPr>
              <a:t>–  Produtos — o que o cliente não quer (via IPS)</a:t>
            </a:r>
          </a:p>
          <a:p>
            <a:pPr algn="l" lvl="1">
              <a:spcAft>
                <a:spcPts val="500"/>
              </a:spcAft>
            </a:pPr>
            <a:r>
              <a:rPr sz="1600" b="0" i="0">
                <a:solidFill>
                  <a:srgbClr val="3C4452"/>
                </a:solidFill>
                <a:latin typeface="Calibri"/>
              </a:rPr>
              <a:t>–  Atributos — duration, gestora, setor, emissor; liquidez e renda por política</a:t>
            </a:r>
          </a:p>
          <a:p>
            <a:pPr algn="l" lvl="1">
              <a:spcAft>
                <a:spcPts val="500"/>
              </a:spcAft>
            </a:pPr>
            <a:r>
              <a:rPr sz="1600" b="0" i="0">
                <a:solidFill>
                  <a:srgbClr val="3C4452"/>
                </a:solidFill>
                <a:latin typeface="Calibri"/>
              </a:rPr>
              <a:t>–  Concentração — limites de exposição por rating, duração e emissor</a:t>
            </a:r>
          </a:p>
          <a:p>
            <a:pPr algn="l">
              <a:spcAft>
                <a:spcPts val="1000"/>
              </a:spcAft>
            </a:pPr>
            <a:r>
              <a:rPr sz="2000" b="1" i="0">
                <a:solidFill>
                  <a:srgbClr val="0B1F3A"/>
                </a:solidFill>
                <a:latin typeface="Calibri"/>
              </a:rPr>
              <a:t>Origem: preenchimento do IPS + política da casa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00800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 i="0">
                <a:solidFill>
                  <a:srgbClr val="6B7280"/>
                </a:solidFill>
                <a:latin typeface="Calibri"/>
              </a:rPr>
              <a:t>Modelo de Alocação · 7/14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7B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457200"/>
            <a:ext cx="2743200" cy="384048"/>
          </a:xfrm>
          <a:prstGeom prst="roundRect">
            <a:avLst/>
          </a:prstGeom>
          <a:solidFill>
            <a:srgbClr val="1E5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PRODUTOS POR CLIENTE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68680"/>
            <a:ext cx="111556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0B1F3A"/>
                </a:solidFill>
                <a:latin typeface="Calibri"/>
              </a:rPr>
              <a:t>Etapa 4 — A lista sob medida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1097280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1" i="0">
                <a:solidFill>
                  <a:srgbClr val="0B1F3A"/>
                </a:solidFill>
                <a:latin typeface="Calibri"/>
              </a:rPr>
              <a:t>Cruza o alvo (model portfolio) com os produtos recomendados</a:t>
            </a:r>
          </a:p>
          <a:p>
            <a:pPr algn="l">
              <a:spcAft>
                <a:spcPts val="1000"/>
              </a:spcAft>
            </a:pPr>
            <a:r>
              <a:rPr sz="2000" b="1" i="0">
                <a:solidFill>
                  <a:srgbClr val="0B1F3A"/>
                </a:solidFill>
                <a:latin typeface="Calibri"/>
              </a:rPr>
              <a:t>Aplica as restrições em cadeia</a:t>
            </a:r>
          </a:p>
          <a:p>
            <a:pPr algn="l" lvl="1">
              <a:spcAft>
                <a:spcPts val="500"/>
              </a:spcAft>
            </a:pPr>
            <a:r>
              <a:rPr sz="1600" b="0" i="0">
                <a:solidFill>
                  <a:srgbClr val="3C4452"/>
                </a:solidFill>
                <a:latin typeface="Calibri"/>
              </a:rPr>
              <a:t>–  R1 produtos  →  R2 atributos  →  R3 concentração</a:t>
            </a:r>
          </a:p>
          <a:p>
            <a:pPr algn="l">
              <a:spcAft>
                <a:spcPts val="1000"/>
              </a:spcAft>
            </a:pPr>
            <a:r>
              <a:rPr sz="2000" b="1" i="0">
                <a:solidFill>
                  <a:srgbClr val="0B1F3A"/>
                </a:solidFill>
                <a:latin typeface="Calibri"/>
              </a:rPr>
              <a:t>Ordena por prioridade final</a:t>
            </a:r>
          </a:p>
          <a:p>
            <a:pPr algn="l" lvl="1">
              <a:spcAft>
                <a:spcPts val="500"/>
              </a:spcAft>
            </a:pPr>
            <a:r>
              <a:rPr sz="1600" b="0" i="0">
                <a:solidFill>
                  <a:srgbClr val="3C4452"/>
                </a:solidFill>
                <a:latin typeface="Calibri"/>
              </a:rPr>
              <a:t>–  Qualidade do produto (ordem) + ranking da recomendação mensal</a:t>
            </a:r>
          </a:p>
          <a:p>
            <a:pPr algn="l">
              <a:spcAft>
                <a:spcPts val="1000"/>
              </a:spcAft>
            </a:pPr>
            <a:r>
              <a:rPr sz="2000" b="1" i="0">
                <a:solidFill>
                  <a:srgbClr val="0B1F3A"/>
                </a:solidFill>
                <a:latin typeface="Calibri"/>
              </a:rPr>
              <a:t>No fim, cada cliente tem sua própria prateleira, já ordenada</a:t>
            </a:r>
          </a:p>
          <a:p>
            <a:pPr algn="l" lvl="1">
              <a:spcAft>
                <a:spcPts val="500"/>
              </a:spcAft>
            </a:pPr>
            <a:r>
              <a:rPr sz="1600" b="0" i="0">
                <a:solidFill>
                  <a:srgbClr val="3C4452"/>
                </a:solidFill>
                <a:latin typeface="Calibri"/>
              </a:rPr>
              <a:t>–  Cada versão diária é guardada para histórico e auditoria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00800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 i="0">
                <a:solidFill>
                  <a:srgbClr val="6B7280"/>
                </a:solidFill>
                <a:latin typeface="Calibri"/>
              </a:rPr>
              <a:t>Modelo de Alocação · 8/14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57200"/>
            <a:ext cx="1554480" cy="384048"/>
          </a:xfrm>
          <a:prstGeom prst="roundRect">
            <a:avLst/>
          </a:prstGeom>
          <a:solidFill>
            <a:srgbClr val="17B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OTIMIZADOR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11556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Etapa 5 — A decisão</a:t>
            </a:r>
          </a:p>
          <a:p>
            <a:pPr algn="l">
              <a:spcAft>
                <a:spcPts val="0"/>
              </a:spcAft>
            </a:pPr>
            <a:r>
              <a:rPr sz="1600" b="0" i="1">
                <a:solidFill>
                  <a:srgbClr val="17B8C4"/>
                </a:solidFill>
                <a:latin typeface="Calibri"/>
              </a:rPr>
              <a:t>O coração do modelo: onde colocar o caixa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676656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Water-filling</a:t>
            </a:r>
          </a:p>
          <a:p>
            <a:pPr algn="l">
              <a:spcAft>
                <a:spcPts val="1400"/>
              </a:spcAft>
            </a:pPr>
            <a:r>
              <a:rPr sz="1500" b="0" i="0">
                <a:solidFill>
                  <a:srgbClr val="C9D6E6"/>
                </a:solidFill>
                <a:latin typeface="Calibri"/>
              </a:rPr>
              <a:t>Distribui o caixa fechando primeiro os maiores gaps em relação ao alvo — sem nunca vender</a:t>
            </a:r>
          </a:p>
          <a:p>
            <a:pPr algn="l">
              <a:spcAft>
                <a:spcPts val="2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Respeita os limites</a:t>
            </a:r>
          </a:p>
          <a:p>
            <a:pPr algn="l">
              <a:spcAft>
                <a:spcPts val="1400"/>
              </a:spcAft>
            </a:pPr>
            <a:r>
              <a:rPr sz="1500" b="0" i="0">
                <a:solidFill>
                  <a:srgbClr val="C9D6E6"/>
                </a:solidFill>
                <a:latin typeface="Calibri"/>
              </a:rPr>
              <a:t>Aplicação mínima e teto de concentração, considerando o que o cliente já tem</a:t>
            </a:r>
          </a:p>
          <a:p>
            <a:pPr algn="l">
              <a:spcAft>
                <a:spcPts val="2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Regra de sobra</a:t>
            </a:r>
          </a:p>
          <a:p>
            <a:pPr algn="l">
              <a:spcAft>
                <a:spcPts val="1400"/>
              </a:spcAft>
            </a:pPr>
            <a:r>
              <a:rPr sz="1500" b="0" i="0">
                <a:solidFill>
                  <a:srgbClr val="C9D6E6"/>
                </a:solidFill>
                <a:latin typeface="Calibri"/>
              </a:rPr>
              <a:t>Resíduos caem numa categoria-coringa (AV1010) com tratamento dedicado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0" y="2743200"/>
            <a:ext cx="777240" cy="3017520"/>
          </a:xfrm>
          <a:prstGeom prst="rect">
            <a:avLst/>
          </a:prstGeom>
          <a:noFill/>
          <a:ln w="1270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0" y="4114800"/>
            <a:ext cx="777240" cy="1645920"/>
          </a:xfrm>
          <a:prstGeom prst="rect">
            <a:avLst/>
          </a:prstGeom>
          <a:solidFill>
            <a:srgbClr val="17B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0" y="5852160"/>
            <a:ext cx="960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C9D6E6"/>
                </a:solidFill>
                <a:latin typeface="Calibri"/>
              </a:rPr>
              <a:t>Renda Fixa</a:t>
            </a:r>
          </a:p>
        </p:txBody>
      </p:sp>
      <p:sp>
        <p:nvSpPr>
          <p:cNvPr id="9" name="Rectangle 8"/>
          <p:cNvSpPr/>
          <p:nvPr/>
        </p:nvSpPr>
        <p:spPr>
          <a:xfrm>
            <a:off x="8778240" y="2743200"/>
            <a:ext cx="777240" cy="3017520"/>
          </a:xfrm>
          <a:prstGeom prst="rect">
            <a:avLst/>
          </a:prstGeom>
          <a:noFill/>
          <a:ln w="1270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778240" y="4572000"/>
            <a:ext cx="777240" cy="1188720"/>
          </a:xfrm>
          <a:prstGeom prst="rect">
            <a:avLst/>
          </a:prstGeom>
          <a:solidFill>
            <a:srgbClr val="17B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0" y="5852160"/>
            <a:ext cx="960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C9D6E6"/>
                </a:solidFill>
                <a:latin typeface="Calibri"/>
              </a:rPr>
              <a:t>Ações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4080" y="2743200"/>
            <a:ext cx="777240" cy="3017520"/>
          </a:xfrm>
          <a:prstGeom prst="rect">
            <a:avLst/>
          </a:prstGeom>
          <a:noFill/>
          <a:ln w="1270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784080" y="3566160"/>
            <a:ext cx="777240" cy="2194560"/>
          </a:xfrm>
          <a:prstGeom prst="rect">
            <a:avLst/>
          </a:prstGeom>
          <a:solidFill>
            <a:srgbClr val="17B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92640" y="5852160"/>
            <a:ext cx="960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C9D6E6"/>
                </a:solidFill>
                <a:latin typeface="Calibri"/>
              </a:rPr>
              <a:t>Fundos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789920" y="2743200"/>
            <a:ext cx="777240" cy="3017520"/>
          </a:xfrm>
          <a:prstGeom prst="rect">
            <a:avLst/>
          </a:prstGeom>
          <a:noFill/>
          <a:ln w="1270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789920" y="4846320"/>
            <a:ext cx="777240" cy="914400"/>
          </a:xfrm>
          <a:prstGeom prst="rect">
            <a:avLst/>
          </a:prstGeom>
          <a:solidFill>
            <a:srgbClr val="17B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98480" y="5852160"/>
            <a:ext cx="960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C9D6E6"/>
                </a:solidFill>
                <a:latin typeface="Calibri"/>
              </a:rPr>
              <a:t>Alt.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0" y="6400800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 i="0">
                <a:solidFill>
                  <a:srgbClr val="6B7280"/>
                </a:solidFill>
                <a:latin typeface="Calibri"/>
              </a:rPr>
              <a:t>Modelo de Alocação · 9/14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7B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457200"/>
            <a:ext cx="2148840" cy="384048"/>
          </a:xfrm>
          <a:prstGeom prst="roundRect">
            <a:avLst/>
          </a:prstGeom>
          <a:solidFill>
            <a:srgbClr val="1E5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ATO 3 · IMPACTO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68680"/>
            <a:ext cx="111556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0B1F3A"/>
                </a:solidFill>
                <a:latin typeface="Calibri"/>
              </a:rPr>
              <a:t>Exemplo real — antes e depois</a:t>
            </a:r>
          </a:p>
          <a:p>
            <a:pPr algn="l">
              <a:spcAft>
                <a:spcPts val="0"/>
              </a:spcAft>
            </a:pPr>
            <a:r>
              <a:rPr sz="1500" b="0" i="1">
                <a:solidFill>
                  <a:srgbClr val="6B7280"/>
                </a:solidFill>
                <a:latin typeface="Calibri"/>
              </a:rPr>
              <a:t>Da carteira atual à recomendação executável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1097280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1" i="0">
                <a:solidFill>
                  <a:srgbClr val="0B1F3A"/>
                </a:solidFill>
                <a:latin typeface="Calibri"/>
              </a:rPr>
              <a:t>Cliente com aporte de US$ 100 mil, perfil moderado</a:t>
            </a:r>
          </a:p>
          <a:p>
            <a:pPr algn="l" lvl="1">
              <a:spcAft>
                <a:spcPts val="500"/>
              </a:spcAft>
            </a:pPr>
            <a:r>
              <a:rPr sz="1600" b="0" i="0">
                <a:solidFill>
                  <a:srgbClr val="3C4452"/>
                </a:solidFill>
                <a:latin typeface="Calibri"/>
              </a:rPr>
              <a:t>–  O modelo calcula peso atual vs. recomendado vs. depois do aporte</a:t>
            </a:r>
          </a:p>
          <a:p>
            <a:pPr algn="l">
              <a:spcAft>
                <a:spcPts val="1000"/>
              </a:spcAft>
            </a:pPr>
            <a:r>
              <a:rPr sz="2000" b="1" i="0">
                <a:solidFill>
                  <a:srgbClr val="0B1F3A"/>
                </a:solidFill>
                <a:latin typeface="Calibri"/>
              </a:rPr>
              <a:t>Entrega uma ordem de compra pronta</a:t>
            </a:r>
          </a:p>
          <a:p>
            <a:pPr algn="l" lvl="1">
              <a:spcAft>
                <a:spcPts val="500"/>
              </a:spcAft>
            </a:pPr>
            <a:r>
              <a:rPr sz="1600" b="0" i="0">
                <a:solidFill>
                  <a:srgbClr val="3C4452"/>
                </a:solidFill>
                <a:latin typeface="Calibri"/>
              </a:rPr>
              <a:t>–  Produto a produto, com taxas, YTW e peso final no portfólio</a:t>
            </a:r>
          </a:p>
          <a:p>
            <a:pPr algn="l" lvl="1">
              <a:spcAft>
                <a:spcPts val="500"/>
              </a:spcAft>
            </a:pPr>
            <a:r>
              <a:rPr sz="1600" b="0" i="0">
                <a:solidFill>
                  <a:srgbClr val="3C4452"/>
                </a:solidFill>
                <a:latin typeface="Calibri"/>
              </a:rPr>
              <a:t>–  Caixa alocado nas categorias mais distantes do alvo, respeitando os limites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00800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 i="0">
                <a:solidFill>
                  <a:srgbClr val="6B7280"/>
                </a:solidFill>
                <a:latin typeface="Calibri"/>
              </a:rPr>
              <a:t>Modelo de Alocação · 10/14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7B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457200"/>
            <a:ext cx="2148840" cy="384048"/>
          </a:xfrm>
          <a:prstGeom prst="roundRect">
            <a:avLst/>
          </a:prstGeom>
          <a:solidFill>
            <a:srgbClr val="1E5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ATO 3 · IMPACTO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68680"/>
            <a:ext cx="111556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0B1F3A"/>
                </a:solidFill>
                <a:latin typeface="Calibri"/>
              </a:rPr>
              <a:t>Por que isso importa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1097280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1" i="0">
                <a:solidFill>
                  <a:srgbClr val="0B1F3A"/>
                </a:solidFill>
                <a:latin typeface="Calibri"/>
              </a:rPr>
              <a:t>Escala — toda a base, todo dia, sem esforço manual</a:t>
            </a:r>
          </a:p>
          <a:p>
            <a:pPr algn="l">
              <a:spcAft>
                <a:spcPts val="1000"/>
              </a:spcAft>
            </a:pPr>
            <a:r>
              <a:rPr sz="2000" b="1" i="0">
                <a:solidFill>
                  <a:srgbClr val="0B1F3A"/>
                </a:solidFill>
                <a:latin typeface="Calibri"/>
              </a:rPr>
              <a:t>Consistência — a mesma regra para todos, auditável</a:t>
            </a:r>
          </a:p>
          <a:p>
            <a:pPr algn="l">
              <a:spcAft>
                <a:spcPts val="1000"/>
              </a:spcAft>
            </a:pPr>
            <a:r>
              <a:rPr sz="2000" b="1" i="0">
                <a:solidFill>
                  <a:srgbClr val="0B1F3A"/>
                </a:solidFill>
                <a:latin typeface="Calibri"/>
              </a:rPr>
              <a:t>Rastreabilidade — snapshots históricos de cada decisão</a:t>
            </a:r>
          </a:p>
          <a:p>
            <a:pPr algn="l">
              <a:spcAft>
                <a:spcPts val="1000"/>
              </a:spcAft>
            </a:pPr>
            <a:r>
              <a:rPr sz="2000" b="1" i="0">
                <a:solidFill>
                  <a:srgbClr val="0B1F3A"/>
                </a:solidFill>
                <a:latin typeface="Calibri"/>
              </a:rPr>
              <a:t>Governança — política e research codificados, não na cabeça de alguém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00800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 i="0">
                <a:solidFill>
                  <a:srgbClr val="6B7280"/>
                </a:solidFill>
                <a:latin typeface="Calibri"/>
              </a:rPr>
              <a:t>Modelo de Alocação · 11/14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7B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457200"/>
            <a:ext cx="2148840" cy="384048"/>
          </a:xfrm>
          <a:prstGeom prst="roundRect">
            <a:avLst/>
          </a:prstGeom>
          <a:solidFill>
            <a:srgbClr val="1E5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ATO 3 · IMPACTO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68680"/>
            <a:ext cx="111556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0B1F3A"/>
                </a:solidFill>
                <a:latin typeface="Calibri"/>
              </a:rPr>
              <a:t>A engenharia que sustenta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1097280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1" i="0">
                <a:solidFill>
                  <a:srgbClr val="0B1F3A"/>
                </a:solidFill>
                <a:latin typeface="Calibri"/>
              </a:rPr>
              <a:t>100% versionado em Git (Databricks Repos)</a:t>
            </a:r>
          </a:p>
          <a:p>
            <a:pPr algn="l" lvl="1">
              <a:spcAft>
                <a:spcPts val="500"/>
              </a:spcAft>
            </a:pPr>
            <a:r>
              <a:rPr sz="1600" b="0" i="0">
                <a:solidFill>
                  <a:srgbClr val="3C4452"/>
                </a:solidFill>
                <a:latin typeface="Calibri"/>
              </a:rPr>
              <a:t>–  Mudanças revisadas em PR, reversíveis</a:t>
            </a:r>
          </a:p>
          <a:p>
            <a:pPr algn="l">
              <a:spcAft>
                <a:spcPts val="1000"/>
              </a:spcAft>
            </a:pPr>
            <a:r>
              <a:rPr sz="2000" b="1" i="0">
                <a:solidFill>
                  <a:srgbClr val="0B1F3A"/>
                </a:solidFill>
                <a:latin typeface="Calibri"/>
              </a:rPr>
              <a:t>Otimizador em Python puro</a:t>
            </a:r>
          </a:p>
          <a:p>
            <a:pPr algn="l" lvl="1">
              <a:spcAft>
                <a:spcPts val="500"/>
              </a:spcAft>
            </a:pPr>
            <a:r>
              <a:rPr sz="1600" b="0" i="0">
                <a:solidFill>
                  <a:srgbClr val="3C4452"/>
                </a:solidFill>
                <a:latin typeface="Calibri"/>
              </a:rPr>
              <a:t>–  Portável e testável fora do Databricks</a:t>
            </a:r>
          </a:p>
          <a:p>
            <a:pPr algn="l">
              <a:spcAft>
                <a:spcPts val="1000"/>
              </a:spcAft>
            </a:pPr>
            <a:r>
              <a:rPr sz="2000" b="1" i="0">
                <a:solidFill>
                  <a:srgbClr val="0B1F3A"/>
                </a:solidFill>
                <a:latin typeface="Calibri"/>
              </a:rPr>
              <a:t>Camadas desacopladas</a:t>
            </a:r>
          </a:p>
          <a:p>
            <a:pPr algn="l" lvl="1">
              <a:spcAft>
                <a:spcPts val="500"/>
              </a:spcAft>
            </a:pPr>
            <a:r>
              <a:rPr sz="1600" b="0" i="0">
                <a:solidFill>
                  <a:srgbClr val="3C4452"/>
                </a:solidFill>
                <a:latin typeface="Calibri"/>
              </a:rPr>
              <a:t>–  Evoluir uma etapa sem quebrar as outras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00800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 i="0">
                <a:solidFill>
                  <a:srgbClr val="6B7280"/>
                </a:solidFill>
                <a:latin typeface="Calibri"/>
              </a:rPr>
              <a:t>Modelo de Alocação · 12/14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7B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457200"/>
            <a:ext cx="1197864" cy="384048"/>
          </a:xfrm>
          <a:prstGeom prst="roundRect">
            <a:avLst/>
          </a:prstGeom>
          <a:solidFill>
            <a:srgbClr val="1E5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68680"/>
            <a:ext cx="111556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0B1F3A"/>
                </a:solidFill>
                <a:latin typeface="Calibri"/>
              </a:rPr>
              <a:t>Próximos passos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1097280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1" i="0">
                <a:solidFill>
                  <a:srgbClr val="0B1F3A"/>
                </a:solidFill>
                <a:latin typeface="Calibri"/>
              </a:rPr>
              <a:t>Reativar Stocks quando fizer sentido para o modelo</a:t>
            </a:r>
          </a:p>
          <a:p>
            <a:pPr algn="l">
              <a:spcAft>
                <a:spcPts val="1000"/>
              </a:spcAft>
            </a:pPr>
            <a:r>
              <a:rPr sz="2000" b="1" i="0">
                <a:solidFill>
                  <a:srgbClr val="0B1F3A"/>
                </a:solidFill>
                <a:latin typeface="Calibri"/>
              </a:rPr>
              <a:t>Corrigir a ingestão da aplicação mínima de fundos</a:t>
            </a:r>
          </a:p>
          <a:p>
            <a:pPr algn="l">
              <a:spcAft>
                <a:spcPts val="1000"/>
              </a:spcAft>
            </a:pPr>
            <a:r>
              <a:rPr sz="2000" b="1" i="0">
                <a:solidFill>
                  <a:srgbClr val="0B1F3A"/>
                </a:solidFill>
                <a:latin typeface="Calibri"/>
              </a:rPr>
              <a:t>Evoluir o otimizador</a:t>
            </a:r>
          </a:p>
          <a:p>
            <a:pPr algn="l" lvl="1">
              <a:spcAft>
                <a:spcPts val="500"/>
              </a:spcAft>
            </a:pPr>
            <a:r>
              <a:rPr sz="1600" b="0" i="0">
                <a:solidFill>
                  <a:srgbClr val="3C4452"/>
                </a:solidFill>
                <a:latin typeface="Calibri"/>
              </a:rPr>
              <a:t>–  Rebalanceamento com venda e restrições adicionais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00800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 i="0">
                <a:solidFill>
                  <a:srgbClr val="6B7280"/>
                </a:solidFill>
                <a:latin typeface="Calibri"/>
              </a:rPr>
              <a:t>Modelo de Alocação · 13/14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931920"/>
            <a:ext cx="12191695" cy="73152"/>
          </a:xfrm>
          <a:prstGeom prst="rect">
            <a:avLst/>
          </a:prstGeom>
          <a:solidFill>
            <a:srgbClr val="17B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468880"/>
            <a:ext cx="10515600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Cada cliente, a carteira certa —</a:t>
            </a:r>
          </a:p>
          <a:p>
            <a:pPr algn="l">
              <a:spcAft>
                <a:spcPts val="0"/>
              </a:spcAft>
            </a:pPr>
            <a:r>
              <a:rPr sz="4000" b="1" i="0">
                <a:solidFill>
                  <a:srgbClr val="17B8C4"/>
                </a:solidFill>
                <a:latin typeface="Calibri"/>
              </a:rPr>
              <a:t>na escala de todos.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29768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C9D6E6"/>
                </a:solidFill>
                <a:latin typeface="Calibri"/>
              </a:rPr>
              <a:t>Obrigado  ·  Perguntas?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