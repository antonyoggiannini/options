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0000"/>
            <a:ext cx="220000" cy="150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400000"/>
            <a:ext cx="10500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2EC4B6"/>
                </a:solidFill>
                <a:latin typeface="Calibri"/>
              </a:rPr>
              <a:t>MÓDULO DE OPÇÕES</a:t>
            </a:r>
          </a:p>
          <a:p>
            <a:r>
              <a:rPr sz="4400" b="1" i="0">
                <a:solidFill>
                  <a:srgbClr val="FFFFFF"/>
                </a:solidFill>
                <a:latin typeface="Calibri"/>
              </a:rPr>
              <a:t>Screening inteligente de Covered Calls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C8D4E0"/>
                </a:solidFill>
                <a:latin typeface="Calibri"/>
              </a:rPr>
              <a:t>Da cadeia bruta de opções ao ranking acionável — probabilidade conservadora, custos reais e backtest, num pipeline vetorizado.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5900000"/>
            <a:ext cx="105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8A9BB0"/>
                </a:solidFill>
                <a:latin typeface="Calibri"/>
              </a:rPr>
              <a:t>plataforma allocation  ·  módulo opcoes  · 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O PROBLEMA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Escolher uma covered call é uma decisão multidimensional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2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4A4A4A"/>
                </a:solidFill>
                <a:latin typeface="Calibri"/>
              </a:rPr>
              <a:t>Cada contrato combina strike, prazo, liquidez, volatilidade e custos. Nenhuma métrica isolada captura o trade-off — e o que parece bom numa dimensão é ruim em outra.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700000"/>
            <a:ext cx="5100000" cy="2400000"/>
          </a:xfrm>
          <a:prstGeom prst="roundRect">
            <a:avLst/>
          </a:prstGeom>
          <a:solidFill>
            <a:srgbClr val="ECF0F4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tIns="250000"/>
          <a:lstStyle/>
          <a:p>
            <a:pPr algn="ctr"/>
            <a:r>
              <a:rPr sz="2400" b="1" i="0">
                <a:solidFill>
                  <a:srgbClr val="C0392B"/>
                </a:solidFill>
                <a:latin typeface="Calibri"/>
              </a:rPr>
              <a:t>Strike OTM +5%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E8B57"/>
                </a:solidFill>
                <a:latin typeface="Calibri"/>
              </a:rPr>
              <a:t>✓ Baixa probabilidade de exercício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C0392B"/>
                </a:solidFill>
                <a:latin typeface="Calibri"/>
              </a:rPr>
              <a:t>✗ ...mas o retorno do prêmio é fraco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000" y="2700000"/>
            <a:ext cx="5100000" cy="2400000"/>
          </a:xfrm>
          <a:prstGeom prst="roundRect">
            <a:avLst/>
          </a:prstGeom>
          <a:solidFill>
            <a:srgbClr val="ECF0F4"/>
          </a:solidFill>
          <a:ln w="25400">
            <a:solidFill>
              <a:srgbClr val="1E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tIns="250000"/>
          <a:lstStyle/>
          <a:p>
            <a:pPr algn="ctr"/>
            <a:r>
              <a:rPr sz="2400" b="1" i="0">
                <a:solidFill>
                  <a:srgbClr val="1E5A9C"/>
                </a:solidFill>
                <a:latin typeface="Calibri"/>
              </a:rPr>
              <a:t>Strike OTM +10%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E8B57"/>
                </a:solidFill>
                <a:latin typeface="Calibri"/>
              </a:rPr>
              <a:t>✓ Retorno do prêmio atraente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C0392B"/>
                </a:solidFill>
                <a:latin typeface="Calibri"/>
              </a:rPr>
              <a:t>✗ ...mas o risco de atribuição é alto demais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54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0B1F3A"/>
                </a:solidFill>
                <a:latin typeface="Calibri"/>
              </a:rPr>
              <a:t>→ É preciso uma régua única que balanceie retorno, risco e custo.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O PROBLEMA · CONTEXTO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O instrumento: troca upside por renda imediata</a:t>
            </a:r>
          </a:p>
        </p:txBody>
      </p:sp>
      <p:pic>
        <p:nvPicPr>
          <p:cNvPr id="5" name="Picture 4" descr="payoff_covered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00000"/>
            <a:ext cx="7857143" cy="4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0000" y="1900000"/>
            <a:ext cx="4400000" cy="4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Vender a call gera prêmio imediato — renda sobre a posição.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Em troca, o ganho fica limitado acima do strike (call exercida).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O dilema: quanto teto sacrificar por quanto prêmio?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O módulo transforma esse trade-off num número comparável.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O PROBLEMA · POR QUE É DIFÍCIL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Cinco lacunas que ferramentas comuns deixam abertas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500000"/>
            <a:ext cx="10800000" cy="485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Informação fragmentada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strike, prazo, liquidez, vol e custos vivem em planilhas separadas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Probabilidade heterogênea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o risk-neutral (mercado) diverge da frequência histórica real do ativo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Custos ignorados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corretagem de venda e exercício mudam qual opção é de fato atrativa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Atribuição antecipada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calls americanas com dividendo alto e delta ≥ 0,70 podem ser exercidas cedo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Sem validação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ranquear é fácil; provar que o critério funciona no histórico, não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SOLUÇÃO · VISÃO GERAL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A jornada de uma opção pela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2500000"/>
            <a:ext cx="1715333" cy="1700000"/>
          </a:xfrm>
          <a:prstGeom prst="round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Dado bruto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cadeia de opções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(yfinance / mock)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33333" y="3280000"/>
            <a:ext cx="144000" cy="14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95333" y="2500000"/>
            <a:ext cx="1715333" cy="1700000"/>
          </a:xfrm>
          <a:prstGeom prst="round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Pipeline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30+ métricas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vetorizadas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28666" y="3280000"/>
            <a:ext cx="144000" cy="14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0666" y="2500000"/>
            <a:ext cx="1715333" cy="17000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Probabilidade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max(d2, empírica)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conservadora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23999" y="3280000"/>
            <a:ext cx="144000" cy="14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6000" y="2500000"/>
            <a:ext cx="1715333" cy="17000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Custos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prêmio líquido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risk-adjusted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19333" y="3280000"/>
            <a:ext cx="144000" cy="14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81333" y="2500000"/>
            <a:ext cx="1715333" cy="170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Score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retorno × (1−prob)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× theta / vega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14666" y="3280000"/>
            <a:ext cx="144000" cy="14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76666" y="2500000"/>
            <a:ext cx="1715333" cy="170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Top-N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ranking + matriz</a:t>
            </a:r>
          </a:p>
          <a:p>
            <a:pPr algn="ctr"/>
            <a:r>
              <a:rPr sz="1200" b="0" i="0">
                <a:solidFill>
                  <a:srgbClr val="E6F7F4"/>
                </a:solidFill>
                <a:latin typeface="Calibri"/>
              </a:rPr>
              <a:t>auditável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" y="470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0B1F3A"/>
                </a:solidFill>
                <a:latin typeface="Calibri"/>
              </a:rPr>
              <a:t>Camadas desacopladas: 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data/ (provedor) → models/ (matemática pura) → pipeline.py → calls.py. 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4A4A4A"/>
                </a:solidFill>
                <a:latin typeface="Calibri"/>
              </a:rPr>
              <a:t>Sem imports para cima — os mesmos modelos servirão para puts, spreads e collar.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SOLUÇÃO · PIPELINE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Pipeline vetorizado — 30+ métricas num passo só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1">
                <a:solidFill>
                  <a:srgbClr val="4A4A4A"/>
                </a:solidFill>
                <a:latin typeface="Calibri"/>
              </a:rPr>
              <a:t>Uma única função vetorizada computa todas as métricas por opção.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250000"/>
            <a:ext cx="10800000" cy="41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preparar_calls_para_modelo()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núcleo em opcoes/pipeline.py; adicionar métrica = editar aqui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NumPy / pandas, sem loops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~100+ strikes de 20 ativos processados em segundos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Liquidez, distância, retorno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volume, open interest, spread; retorno do prêmio anualizado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IV usada + fonte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IV implícita preferida; fallback para vol histórica (fonte_vol)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Greeks completos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delta, gamma, vega, theta, rho — alimentam score e flags de risco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SOLUÇÃO · PROBABILIDADE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Probabilidade de exercício: o pior caso entre dois mundos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600000"/>
            <a:ext cx="10800000" cy="1300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000" b="1" i="0">
                <a:solidFill>
                  <a:srgbClr val="2EC4B6"/>
                </a:solidFill>
                <a:latin typeface="Consolas"/>
              </a:rPr>
              <a:t>prob_final = max( prob_d2 ,  prob_empírica )</a:t>
            </a:r>
          </a:p>
          <a:p>
            <a:pPr algn="ctr"/>
            <a:r>
              <a:rPr sz="2000" b="1" i="0">
                <a:solidFill>
                  <a:srgbClr val="2EC4B6"/>
                </a:solidFill>
                <a:latin typeface="Consolas"/>
              </a:rPr>
              <a:t>d2 = [ ln(S₀/K) + (r − q − ½·IV²)·T ] / ( IV·√T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200000"/>
            <a:ext cx="1080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prob_d2 = N(d2)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Black-Scholes risk-neutral: probabilidade implícita no preço de mercado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prob_empírica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frequência histórica em janelas NÃO-sobrepostas (independência estatística)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max(...)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escolhe a estimativa mais pessimista — postura conservadora por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1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2E8B57"/>
                </a:solidFill>
                <a:latin typeface="Calibri"/>
              </a:rPr>
              <a:t>5 anos de histórico + janelas de 7–20 dias → dezenas de amostras independentes.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SOLUÇÃO · CUSTOS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Modelo de custos: prêmio líquido ajustado ao risco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600000"/>
            <a:ext cx="10800000" cy="1300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000" b="1" i="0">
                <a:solidFill>
                  <a:srgbClr val="2EC4B6"/>
                </a:solidFill>
                <a:latin typeface="Consolas"/>
              </a:rPr>
              <a:t>prêmio_líquido = prêmio − custo_venda − custo_exercício × prob_final</a:t>
            </a:r>
          </a:p>
          <a:p>
            <a:pPr algn="ctr"/>
            <a:r>
              <a:rPr sz="2000" b="1" i="0">
                <a:solidFill>
                  <a:srgbClr val="2EC4B6"/>
                </a:solidFill>
                <a:latin typeface="Consolas"/>
              </a:rPr>
              <a:t>custo_exercício = max( 0,25% × strike × 100 ,  US$ 10 )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200000"/>
            <a:ext cx="1080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custo_venda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descontado sempre, por ação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custo_exercício × prob_final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ponderado pela probabilidade de a call ser exercida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buy-write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inclui também o custo de compra das ações na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1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2E8B57"/>
                </a:solidFill>
                <a:latin typeface="Calibri"/>
              </a:rPr>
              <a:t>Custos explícitos mudam o ranking — sobretudo em strikes de baixo valor nocional.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SOLUÇÃO · SCORE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O score: uma régua única de retorno × segurança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600000"/>
            <a:ext cx="10800000" cy="1300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000" b="1" i="0">
                <a:solidFill>
                  <a:srgbClr val="2EC4B6"/>
                </a:solidFill>
                <a:latin typeface="Consolas"/>
              </a:rPr>
              <a:t>score = retorno_se_exercido_anual × (1 − prob_final)</a:t>
            </a:r>
          </a:p>
          <a:p>
            <a:pPr algn="ctr"/>
            <a:r>
              <a:rPr sz="2000" b="1" i="0">
                <a:solidFill>
                  <a:srgbClr val="2EC4B6"/>
                </a:solidFill>
                <a:latin typeface="Consolas"/>
              </a:rPr>
              <a:t>        × (1 + peso_theta·θ_eff) / (1 + peso_vega·vega_risk)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200000"/>
            <a:ext cx="1080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retorno_se_exercido_anual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ganho anualizado se a call for exercida (já líquido de custos)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(1 − prob_final)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penaliza o risco de atribuição — prêmio só vale se for 'seguro'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peso_theta · θ_eff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bônus por time decay; θ_eff = theta normalizado pelo prêmio líquido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E5A9C"/>
                </a:solidFill>
                <a:latin typeface="Consolas"/>
              </a:rPr>
              <a:t>peso_vega · vega_risk</a:t>
            </a:r>
            <a:r>
              <a:rPr sz="1700" b="0" i="0">
                <a:solidFill>
                  <a:srgbClr val="4A4A4A"/>
                </a:solidFill>
                <a:latin typeface="Calibri"/>
              </a:rPr>
              <a:t>  —  penaliza exposição à volatilidade; pesos = 0 por padrão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1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2E8B57"/>
                </a:solidFill>
                <a:latin typeface="Calibri"/>
              </a:rPr>
              <a:t>Default (pesos = 0): score = retorno_se_exercido × (1 − prob_final).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SOLUÇÃO · FILTROS + AUDITORIA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Cadeia de filtros ordenada — e nada se perde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1">
                <a:solidFill>
                  <a:srgbClr val="4A4A4A"/>
                </a:solidFill>
                <a:latin typeface="Calibri"/>
              </a:rPr>
              <a:t>Precedência clara: o primeiro motivo de reprovação 'vence' e é registrado.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250000"/>
            <a:ext cx="10800000" cy="41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1 · Liquidez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volume, open interest e spread dentro dos limites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2 · Cap de probabilidade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prob_exercicio_final ≤ prob_exerc_max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3 · Distância de strike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OTM mínimo configurável (min_distancia_strike_pct)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4 · Retorno líquido &gt; 0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depois de todos os custos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5 · Lucro se exercido &gt; 0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nunca recomenda vender no prejuízo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Coluna status + matriz_opcoes.xlsx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rejeitadas ficam registradas com o motivo — auditável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DIFERENCIAIS · VALIDAÇÃO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Backtest: o critério é provado no histórico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500000"/>
            <a:ext cx="10800000" cy="485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backtest_covered_call()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simula vendas sucessivas de covered calls ao longo do histórico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Prêmio por Black-Scholes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estimado com a volatilidade realizada de cada data de entrada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Métricas de resultado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retorno médio/anualizado, taxa de exercício, taxa de acerto, volatilidade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Comparação com buy &amp; hold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mostra o que a estratégia agrega (ou não) sobre só carregar a ação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Baseado em modelo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valida a lógica de seleção de strike e horizonte — honesto quanto ao escopo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DIFERENCIAIS · ENGENHARIA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Por que é robusto e reutilizável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500000"/>
            <a:ext cx="10800000" cy="485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Vetorização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NumPy/pandas ponta a ponta — rápido e sem loops frágeis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Fallback inteligente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vol histórica quando falta IV; d2 quando a empírica é insuficiente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Modo offline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base_mock/ com 23 tickers — demos e testes sem rede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Config declarativa (TOML)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parâmetros e overrides por ativo sem tocar no código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0B1F3A"/>
                </a:solidFill>
                <a:latin typeface="Calibri"/>
              </a:rPr>
              <a:t>Logging estruturado</a:t>
            </a:r>
            <a:r>
              <a:rPr sz="1800" b="0" i="0">
                <a:solidFill>
                  <a:srgbClr val="4A4A4A"/>
                </a:solidFill>
                <a:latin typeface="Calibri"/>
              </a:rPr>
              <a:t>  —  rejeições rastreadas por motivo; erro num ativo não derruba os demais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DIFERENCIAIS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Arquitetura em camadas — separação rígida, sem imports para cima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500000"/>
            <a:ext cx="3400000" cy="800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CLI  ·  cli.py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argparse, subcomandos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0000" y="1500000"/>
            <a:ext cx="3400000" cy="800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Config  ·  config.py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TOML validado (dataclass)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0000" y="1500000"/>
            <a:ext cx="3400000" cy="800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Runner  ·  runner.py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loop por ativo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2900000"/>
            <a:ext cx="2038400" cy="1600000"/>
          </a:xfrm>
          <a:prstGeom prst="round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data/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ProvedorDados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yfinance ↔ mock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8400" y="2900000"/>
            <a:ext cx="2038400" cy="16000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models/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Black-Scholes,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Greeks, empírica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6800" y="2900000"/>
            <a:ext cx="2038400" cy="1600000"/>
          </a:xfrm>
          <a:prstGeom prst="round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opcoes/pipeline.py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30+ métricas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vetorizadas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5200" y="2900000"/>
            <a:ext cx="2038400" cy="160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opcoes/calls.py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filtros, score,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top-N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53600" y="2900000"/>
            <a:ext cx="2038400" cy="1600000"/>
          </a:xfrm>
          <a:prstGeom prst="round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report.py + risco/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Excel, payoff,</a:t>
            </a:r>
          </a:p>
          <a:p>
            <a:pPr algn="ctr"/>
            <a:r>
              <a:rPr sz="1100" b="0" i="0">
                <a:solidFill>
                  <a:srgbClr val="EAF3F0"/>
                </a:solidFill>
                <a:latin typeface="Calibri"/>
              </a:rPr>
              <a:t>carteira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4800000"/>
            <a:ext cx="10792000" cy="700000"/>
          </a:xfrm>
          <a:prstGeom prst="round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models/ é matemática pura e reutilizável → mesma base alimenta puts, spreads, collar e backtest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80000"/>
            <a:ext cx="11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E5A9C"/>
                </a:solidFill>
                <a:latin typeface="Calibri"/>
              </a:rPr>
              <a:t>DIFERENCIAIS · FUTURO</a:t>
            </a:r>
          </a:p>
          <a:p>
            <a:r>
              <a:rPr sz="3200" b="1" i="0">
                <a:solidFill>
                  <a:srgbClr val="0B1F3A"/>
                </a:solidFill>
                <a:latin typeface="Calibri"/>
              </a:rPr>
              <a:t>Roadmap — stubs prontos para expansão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4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1">
                <a:solidFill>
                  <a:srgbClr val="4A4A4A"/>
                </a:solidFill>
                <a:latin typeface="Calibri"/>
              </a:rPr>
              <a:t>A arquitetura já reserva os pontos de extensão. Cada stub tem docstring com o escopo previsto.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150000"/>
            <a:ext cx="150000" cy="9000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150000"/>
            <a:ext cx="104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B1F3A"/>
                </a:solidFill>
                <a:latin typeface="Consolas"/>
              </a:rPr>
              <a:t>opcoes/puts.py</a:t>
            </a:r>
          </a:p>
          <a:p>
            <a:r>
              <a:rPr sz="1600" b="0" i="0">
                <a:solidFill>
                  <a:srgbClr val="4A4A4A"/>
                </a:solidFill>
                <a:latin typeface="Calibri"/>
              </a:rPr>
              <a:t>Venda de puts cash-secured / naked — espelho da covered call, fecha a estratégia Wheel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3200000"/>
            <a:ext cx="150000" cy="900000"/>
          </a:xfrm>
          <a:prstGeom prst="round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3200000"/>
            <a:ext cx="104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B1F3A"/>
                </a:solidFill>
                <a:latin typeface="Consolas"/>
              </a:rPr>
              <a:t>opcoes/spreads.py</a:t>
            </a:r>
          </a:p>
          <a:p>
            <a:r>
              <a:rPr sz="1600" b="0" i="0">
                <a:solidFill>
                  <a:srgbClr val="4A4A4A"/>
                </a:solidFill>
                <a:latin typeface="Calibri"/>
              </a:rPr>
              <a:t>Bull/bear spread, iron condor, calendar — crédito líquido, max profit/loss, 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4250000"/>
            <a:ext cx="150000" cy="900000"/>
          </a:xfrm>
          <a:prstGeom prst="round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4250000"/>
            <a:ext cx="104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B1F3A"/>
                </a:solidFill>
                <a:latin typeface="Consolas"/>
              </a:rPr>
              <a:t>opcoes/volatilidade.py</a:t>
            </a:r>
          </a:p>
          <a:p>
            <a:r>
              <a:rPr sz="1600" b="0" i="0">
                <a:solidFill>
                  <a:srgbClr val="4A4A4A"/>
                </a:solidFill>
                <a:latin typeface="Calibri"/>
              </a:rPr>
              <a:t>IV rank/percentile, term structure, skew, prêmio de volatilidade (IV − histórica)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5300000"/>
            <a:ext cx="150000" cy="90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5300000"/>
            <a:ext cx="104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B1F3A"/>
                </a:solidFill>
                <a:latin typeface="Consolas"/>
              </a:rPr>
              <a:t>opcoes/hedge.py</a:t>
            </a:r>
          </a:p>
          <a:p>
            <a:r>
              <a:rPr sz="1600" b="0" i="0">
                <a:solidFill>
                  <a:srgbClr val="4A4A4A"/>
                </a:solidFill>
                <a:latin typeface="Calibri"/>
              </a:rPr>
              <a:t>Collar, put protetora, beta hedge — proteção integrada à posição coberta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0"/>
            <a:ext cx="220000" cy="190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100000"/>
            <a:ext cx="10800000" cy="2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Uma régua única para covered calls</a:t>
            </a:r>
          </a:p>
          <a:p>
            <a:pPr>
              <a:spcBef>
                <a:spcPts val="1600"/>
              </a:spcBef>
            </a:pPr>
            <a:r>
              <a:rPr sz="2000" b="0" i="0">
                <a:solidFill>
                  <a:srgbClr val="C8D4E0"/>
                </a:solidFill>
                <a:latin typeface="Calibri"/>
              </a:rPr>
              <a:t>Varre → ranqueia → valida. Probabilidade conservadora, custos reais e backtest, com auditabilidade total e arquitetura pronta para puts, spreads e hedge.</a:t>
            </a:r>
          </a:p>
          <a:p>
            <a:pPr>
              <a:spcBef>
                <a:spcPts val="2400"/>
              </a:spcBef>
            </a:pPr>
            <a:r>
              <a:rPr sz="2000" b="1" i="0">
                <a:solidFill>
                  <a:srgbClr val="2EC4B6"/>
                </a:solidFill>
                <a:latin typeface="Consolas"/>
              </a:rPr>
              <a:t>allocation --config config.toml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